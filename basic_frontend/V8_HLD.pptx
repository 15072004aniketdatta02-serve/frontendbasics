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63624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72384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81144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89904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98664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" y="731520"/>
            <a:ext cx="9089136" cy="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" y="1554480"/>
            <a:ext cx="9089136" cy="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" y="2377440"/>
            <a:ext cx="9089136" cy="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" y="3200400"/>
            <a:ext cx="9089136" cy="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" y="4023360"/>
            <a:ext cx="9089136" cy="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914400"/>
            <a:ext cx="6583680" cy="192024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914400"/>
            <a:ext cx="109728" cy="192024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100584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V8</a:t>
            </a:r>
            <a:endParaRPr lang="en-US" sz="5400" dirty="0"/>
          </a:p>
        </p:txBody>
      </p:sp>
      <p:sp>
        <p:nvSpPr>
          <p:cNvPr id="17" name="Text 15"/>
          <p:cNvSpPr/>
          <p:nvPr/>
        </p:nvSpPr>
        <p:spPr>
          <a:xfrm>
            <a:off x="731520" y="178308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JavaScript Actually Runs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233172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source characters to machine instructions — nothing skipped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589520" y="548640"/>
            <a:ext cx="141732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0" y="54864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589520" y="1051560"/>
            <a:ext cx="141732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39D0C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89520" y="105156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9D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Bytecode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589520" y="1554480"/>
            <a:ext cx="141732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39D0C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89520" y="155448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9D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Ignition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589520" y="2057400"/>
            <a:ext cx="141732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0" y="205740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TurboFan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589520" y="2560320"/>
            <a:ext cx="141732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89520" y="256032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Hidden Class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589520" y="3063240"/>
            <a:ext cx="141732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89520" y="306324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589520" y="3566160"/>
            <a:ext cx="141732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0" y="356616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JIT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589520" y="4069080"/>
            <a:ext cx="141732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89520" y="406908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Maglev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2920" y="4663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· CS101 · JavaScript Engines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Pipeline at a Glance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9144000" cy="2743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731520"/>
            <a:ext cx="1115568" cy="804672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4592" y="731520"/>
            <a:ext cx="1115568" cy="6400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804672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4592" y="1261872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.js file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280160" y="1133856"/>
            <a:ext cx="347472" cy="0"/>
          </a:xfrm>
          <a:prstGeom prst="line">
            <a:avLst/>
          </a:prstGeom>
          <a:noFill/>
          <a:ln w="12700">
            <a:solidFill>
              <a:srgbClr val="8B949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81328" y="1033272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▶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463040" y="731520"/>
            <a:ext cx="1115568" cy="804672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463040" y="731520"/>
            <a:ext cx="1115568" cy="6400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63040" y="804672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Scanner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(Lexer)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63040" y="1261872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Tokens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78608" y="1133856"/>
            <a:ext cx="347472" cy="0"/>
          </a:xfrm>
          <a:prstGeom prst="line">
            <a:avLst/>
          </a:prstGeom>
          <a:noFill/>
          <a:ln w="12700">
            <a:solidFill>
              <a:srgbClr val="8B949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79776" y="1033272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0" y="731520"/>
            <a:ext cx="1115568" cy="804672"/>
          </a:xfrm>
          <a:prstGeom prst="rect">
            <a:avLst/>
          </a:prstGeom>
          <a:solidFill>
            <a:srgbClr val="161B22"/>
          </a:solidFill>
          <a:ln w="19050">
            <a:solidFill>
              <a:srgbClr val="39D0C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0" y="731520"/>
            <a:ext cx="1115568" cy="64008"/>
          </a:xfrm>
          <a:prstGeom prst="rect">
            <a:avLst/>
          </a:prstGeom>
          <a:solidFill>
            <a:srgbClr val="39D0C9"/>
          </a:solidFill>
          <a:ln w="12700">
            <a:solidFill>
              <a:srgbClr val="39D0C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0" y="804672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0" y="1261872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9D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AST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858768" y="1133856"/>
            <a:ext cx="347472" cy="0"/>
          </a:xfrm>
          <a:prstGeom prst="line">
            <a:avLst/>
          </a:prstGeom>
          <a:noFill/>
          <a:ln w="12700">
            <a:solidFill>
              <a:srgbClr val="8B949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59936" y="1033272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▶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023360" y="731520"/>
            <a:ext cx="1115568" cy="804672"/>
          </a:xfrm>
          <a:prstGeom prst="rect">
            <a:avLst/>
          </a:prstGeom>
          <a:solidFill>
            <a:srgbClr val="161B22"/>
          </a:solidFill>
          <a:ln w="19050">
            <a:solidFill>
              <a:srgbClr val="39D0C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023360" y="731520"/>
            <a:ext cx="1115568" cy="64008"/>
          </a:xfrm>
          <a:prstGeom prst="rect">
            <a:avLst/>
          </a:prstGeom>
          <a:solidFill>
            <a:srgbClr val="39D0C9"/>
          </a:solidFill>
          <a:ln w="12700">
            <a:solidFill>
              <a:srgbClr val="39D0C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23360" y="804672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Ignition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023360" y="1261872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9D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Bytecode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138928" y="1133856"/>
            <a:ext cx="347472" cy="0"/>
          </a:xfrm>
          <a:prstGeom prst="line">
            <a:avLst/>
          </a:prstGeom>
          <a:noFill/>
          <a:ln w="12700">
            <a:solidFill>
              <a:srgbClr val="8B949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40096" y="1033272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▶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303520" y="731520"/>
            <a:ext cx="1115568" cy="804672"/>
          </a:xfrm>
          <a:prstGeom prst="rect">
            <a:avLst/>
          </a:prstGeom>
          <a:solidFill>
            <a:srgbClr val="161B22"/>
          </a:solidFill>
          <a:ln w="19050">
            <a:solidFill>
              <a:srgbClr val="E3B34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303520" y="731520"/>
            <a:ext cx="1115568" cy="64008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0" y="804672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Sparkplug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03520" y="1261872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JIT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419088" y="1133856"/>
            <a:ext cx="347472" cy="0"/>
          </a:xfrm>
          <a:prstGeom prst="line">
            <a:avLst/>
          </a:prstGeom>
          <a:noFill/>
          <a:ln w="12700">
            <a:solidFill>
              <a:srgbClr val="8B949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20256" y="1033272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▶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583680" y="731520"/>
            <a:ext cx="1115568" cy="804672"/>
          </a:xfrm>
          <a:prstGeom prst="rect">
            <a:avLst/>
          </a:prstGeom>
          <a:solidFill>
            <a:srgbClr val="161B22"/>
          </a:solidFill>
          <a:ln w="19050">
            <a:solidFill>
              <a:srgbClr val="F0883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583680" y="731520"/>
            <a:ext cx="1115568" cy="64008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0" y="804672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Maglev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583680" y="1261872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Mid-tier JIT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699248" y="1133856"/>
            <a:ext cx="347472" cy="0"/>
          </a:xfrm>
          <a:prstGeom prst="line">
            <a:avLst/>
          </a:prstGeom>
          <a:noFill/>
          <a:ln w="12700">
            <a:solidFill>
              <a:srgbClr val="8B949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00416" y="1033272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▶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863840" y="731520"/>
            <a:ext cx="1115568" cy="804672"/>
          </a:xfrm>
          <a:prstGeom prst="rect">
            <a:avLst/>
          </a:prstGeom>
          <a:solidFill>
            <a:srgbClr val="161B22"/>
          </a:solidFill>
          <a:ln w="19050">
            <a:solidFill>
              <a:srgbClr val="F8514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863840" y="731520"/>
            <a:ext cx="1115568" cy="64008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863840" y="804672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TurboFan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863840" y="1261872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Optimised JIT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303520" y="2103120"/>
            <a:ext cx="2560320" cy="0"/>
          </a:xfrm>
          <a:prstGeom prst="line">
            <a:avLst/>
          </a:prstGeom>
          <a:noFill/>
          <a:ln w="19050">
            <a:solidFill>
              <a:srgbClr val="F85149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>
            <a:off x="5303520" y="1536192"/>
            <a:ext cx="0" cy="566928"/>
          </a:xfrm>
          <a:prstGeom prst="line">
            <a:avLst/>
          </a:prstGeom>
          <a:noFill/>
          <a:ln w="19050">
            <a:solidFill>
              <a:srgbClr val="F85149"/>
            </a:solidFill>
            <a:prstDash val="dash"/>
          </a:ln>
        </p:spPr>
      </p:sp>
      <p:sp>
        <p:nvSpPr>
          <p:cNvPr id="47" name="Shape 45"/>
          <p:cNvSpPr/>
          <p:nvPr/>
        </p:nvSpPr>
        <p:spPr>
          <a:xfrm>
            <a:off x="7863840" y="1536192"/>
            <a:ext cx="0" cy="566928"/>
          </a:xfrm>
          <a:prstGeom prst="line">
            <a:avLst/>
          </a:prstGeom>
          <a:noFill/>
          <a:ln w="19050">
            <a:solidFill>
              <a:srgbClr val="F85149"/>
            </a:solidFill>
            <a:prstDash val="dash"/>
          </a:ln>
        </p:spPr>
      </p:sp>
      <p:sp>
        <p:nvSpPr>
          <p:cNvPr id="48" name="Text 46"/>
          <p:cNvSpPr/>
          <p:nvPr/>
        </p:nvSpPr>
        <p:spPr>
          <a:xfrm>
            <a:off x="5349240" y="21488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function promotion →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82880" y="2514600"/>
            <a:ext cx="2788920" cy="2377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9D0C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182880" y="2514600"/>
            <a:ext cx="73152" cy="2377440"/>
          </a:xfrm>
          <a:prstGeom prst="rect">
            <a:avLst/>
          </a:prstGeom>
          <a:solidFill>
            <a:srgbClr val="39D0C9"/>
          </a:solidFill>
          <a:ln w="12700">
            <a:solidFill>
              <a:srgbClr val="39D0C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0040" y="2578608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D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Feedback-Driven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320040" y="2926080"/>
            <a:ext cx="25786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V8 doesn't guess. Every time Ignition runs bytecode, it records type feedback at each operation site. When a function turns hot, that feedback guides which JIT tier to use.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3172968" y="2514600"/>
            <a:ext cx="2788920" cy="2377440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3172968" y="2514600"/>
            <a:ext cx="73152" cy="237744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10128" y="2578608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Compilation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3310128" y="2926080"/>
            <a:ext cx="25786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Sparkplug compiles in microseconds. Maglev uses SSA to do medium optimization. TurboFan applies sea-of-nodes IR for full speculative optimization.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6163056" y="2514600"/>
            <a:ext cx="2788920" cy="2377440"/>
          </a:xfrm>
          <a:prstGeom prst="rect">
            <a:avLst/>
          </a:prstGeom>
          <a:solidFill>
            <a:srgbClr val="161B22"/>
          </a:solidFill>
          <a:ln w="12700">
            <a:solidFill>
              <a:srgbClr val="D2A8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6163056" y="2514600"/>
            <a:ext cx="73152" cy="2377440"/>
          </a:xfrm>
          <a:prstGeom prst="rect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00216" y="2578608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2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Deoptimisation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6300216" y="2926080"/>
            <a:ext cx="25786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TurboFan compiled assuming x is always a number, and you pass a string, V8 tosses the compiled code (deopt) and falls back to Ignition — no crash.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Parsing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9144000" cy="2743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685800"/>
            <a:ext cx="2743200" cy="1554480"/>
          </a:xfrm>
          <a:prstGeom prst="rect">
            <a:avLst/>
          </a:prstGeom>
          <a:solidFill>
            <a:srgbClr val="0D1117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685800"/>
            <a:ext cx="274320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6858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input.js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6032" y="1005840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add(a, b) {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56032" y="1243584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a + b;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56032" y="1481328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56032" y="1719072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56032" y="1956816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add(2, 3);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926080" y="1463040"/>
            <a:ext cx="457200" cy="0"/>
          </a:xfrm>
          <a:prstGeom prst="line">
            <a:avLst/>
          </a:prstGeom>
          <a:noFill/>
          <a:ln w="19050">
            <a:solidFill>
              <a:srgbClr val="3FB9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55264" y="137160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</a:rPr>
              <a:t>▶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83280" y="685800"/>
            <a:ext cx="233172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9D0C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83280" y="685800"/>
            <a:ext cx="2331720" cy="292608"/>
          </a:xfrm>
          <a:prstGeom prst="rect">
            <a:avLst/>
          </a:prstGeom>
          <a:solidFill>
            <a:srgbClr val="1A2632"/>
          </a:solidFill>
          <a:ln w="12700">
            <a:solidFill>
              <a:srgbClr val="39D0C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29000" y="685800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9D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Scanner output (tokens)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456432" y="1005840"/>
            <a:ext cx="914400" cy="173736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56432" y="1005840"/>
            <a:ext cx="9144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434840" y="1005840"/>
            <a:ext cx="11887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"function"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456432" y="1197864"/>
            <a:ext cx="914400" cy="173736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56432" y="1197864"/>
            <a:ext cx="9144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434840" y="1197864"/>
            <a:ext cx="11887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"add"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456432" y="1389888"/>
            <a:ext cx="914400" cy="173736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56432" y="1389888"/>
            <a:ext cx="9144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LPAREN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434840" y="1389888"/>
            <a:ext cx="11887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"("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456432" y="1581912"/>
            <a:ext cx="914400" cy="173736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56432" y="1581912"/>
            <a:ext cx="9144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434840" y="1581912"/>
            <a:ext cx="11887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"a"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456432" y="1773936"/>
            <a:ext cx="914400" cy="173736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56432" y="1773936"/>
            <a:ext cx="9144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434840" y="1773936"/>
            <a:ext cx="11887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","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456432" y="1965960"/>
            <a:ext cx="914400" cy="173736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56432" y="1965960"/>
            <a:ext cx="9144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434840" y="1965960"/>
            <a:ext cx="11887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"b"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715000" y="1463040"/>
            <a:ext cx="411480" cy="0"/>
          </a:xfrm>
          <a:prstGeom prst="line">
            <a:avLst/>
          </a:prstGeom>
          <a:noFill/>
          <a:ln w="19050">
            <a:solidFill>
              <a:srgbClr val="39D0C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07608" y="137160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D0C9"/>
                </a:solidFill>
              </a:rPr>
              <a:t>▶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26480" y="685800"/>
            <a:ext cx="283464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D2A8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26480" y="685800"/>
            <a:ext cx="2834640" cy="292608"/>
          </a:xfrm>
          <a:prstGeom prst="rect">
            <a:avLst/>
          </a:prstGeom>
          <a:solidFill>
            <a:srgbClr val="1E1A2E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72200" y="6858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AST (Abstract Syntax Tree)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949440" y="1051560"/>
            <a:ext cx="1280160" cy="256032"/>
          </a:xfrm>
          <a:prstGeom prst="rect">
            <a:avLst/>
          </a:prstGeom>
          <a:solidFill>
            <a:srgbClr val="2A1F40"/>
          </a:solidFill>
          <a:ln w="10160">
            <a:solidFill>
              <a:srgbClr val="D2A8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49440" y="10515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FunctionDecl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360920" y="1307592"/>
            <a:ext cx="0" cy="182880"/>
          </a:xfrm>
          <a:prstGeom prst="line">
            <a:avLst/>
          </a:prstGeom>
          <a:noFill/>
          <a:ln w="10160">
            <a:solidFill>
              <a:srgbClr val="8B949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0" y="1490472"/>
            <a:ext cx="1188720" cy="0"/>
          </a:xfrm>
          <a:prstGeom prst="line">
            <a:avLst/>
          </a:prstGeom>
          <a:noFill/>
          <a:ln w="10160">
            <a:solidFill>
              <a:srgbClr val="8B949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63640" y="1490472"/>
            <a:ext cx="822960" cy="228600"/>
          </a:xfrm>
          <a:prstGeom prst="rect">
            <a:avLst/>
          </a:prstGeom>
          <a:solidFill>
            <a:srgbClr val="1A2618"/>
          </a:solidFill>
          <a:ln w="10160">
            <a:solidFill>
              <a:srgbClr val="E3B34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63640" y="149047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Ident:add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7223760" y="1490472"/>
            <a:ext cx="1600200" cy="228600"/>
          </a:xfrm>
          <a:prstGeom prst="rect">
            <a:avLst/>
          </a:prstGeom>
          <a:solidFill>
            <a:srgbClr val="1A1E2E"/>
          </a:solidFill>
          <a:ln w="10160">
            <a:solidFill>
              <a:srgbClr val="58A6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223760" y="1490472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ReturnStatement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8028432" y="1719072"/>
            <a:ext cx="0" cy="182880"/>
          </a:xfrm>
          <a:prstGeom prst="line">
            <a:avLst/>
          </a:prstGeom>
          <a:noFill/>
          <a:ln w="10160">
            <a:solidFill>
              <a:srgbClr val="8B949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498080" y="1901952"/>
            <a:ext cx="1051560" cy="228600"/>
          </a:xfrm>
          <a:prstGeom prst="rect">
            <a:avLst/>
          </a:prstGeom>
          <a:solidFill>
            <a:srgbClr val="201A1A"/>
          </a:solidFill>
          <a:ln w="10160">
            <a:solidFill>
              <a:srgbClr val="F0883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498080" y="1901952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BinaryOp (+)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182880" y="2377440"/>
            <a:ext cx="2788920" cy="251460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182880" y="2377440"/>
            <a:ext cx="73152" cy="251460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10896" y="2441448"/>
            <a:ext cx="2587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Parsing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310896" y="2807208"/>
            <a:ext cx="25877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V8 uses 'pre-parsing' — it skips function bodies on first pass and only fully parses them when called. This makes startup 2-3× faster for large files like React or Angular.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3172968" y="2377440"/>
            <a:ext cx="2788920" cy="2514600"/>
          </a:xfrm>
          <a:prstGeom prst="rect">
            <a:avLst/>
          </a:prstGeom>
          <a:solidFill>
            <a:srgbClr val="161B22"/>
          </a:solidFill>
          <a:ln w="12700">
            <a:solidFill>
              <a:srgbClr val="D2A8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3172968" y="2377440"/>
            <a:ext cx="73152" cy="2514600"/>
          </a:xfrm>
          <a:prstGeom prst="rect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300984" y="2441448"/>
            <a:ext cx="2587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2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 the AST?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3300984" y="2807208"/>
            <a:ext cx="25877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AST node is a C++ object: FunctionDeclaration, ReturnStatement, BinaryOperation, Literal. The tree faithfully reflects every operator, scope, and control-flow branch.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6163056" y="2377440"/>
            <a:ext cx="2788920" cy="2514600"/>
          </a:xfrm>
          <a:prstGeom prst="rect">
            <a:avLst/>
          </a:prstGeom>
          <a:solidFill>
            <a:srgbClr val="161B22"/>
          </a:solidFill>
          <a:ln w="12700">
            <a:solidFill>
              <a:srgbClr val="39D0C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6163056" y="2377440"/>
            <a:ext cx="73152" cy="2514600"/>
          </a:xfrm>
          <a:prstGeom prst="rect">
            <a:avLst/>
          </a:prstGeom>
          <a:solidFill>
            <a:srgbClr val="39D0C9"/>
          </a:solidFill>
          <a:ln w="12700">
            <a:solidFill>
              <a:srgbClr val="39D0C9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291072" y="2441448"/>
            <a:ext cx="2587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D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Analysis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6291072" y="2807208"/>
            <a:ext cx="25877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AST construction, V8 builds a scope chain that records where every variable lives — local, closure, or global. This directly shapes how Ignition emits register-allocation bytecode.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Ignition: The Bytecode Interpreter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9144000" cy="27432"/>
          </a:xfrm>
          <a:prstGeom prst="rect">
            <a:avLst/>
          </a:prstGeom>
          <a:solidFill>
            <a:srgbClr val="39D0C9"/>
          </a:solidFill>
          <a:ln w="12700">
            <a:solidFill>
              <a:srgbClr val="39D0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658368"/>
            <a:ext cx="2560320" cy="3200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9D0C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658368"/>
            <a:ext cx="2560320" cy="320040"/>
          </a:xfrm>
          <a:prstGeom prst="rect">
            <a:avLst/>
          </a:prstGeom>
          <a:solidFill>
            <a:srgbClr val="132226"/>
          </a:solidFill>
          <a:ln w="12700">
            <a:solidFill>
              <a:srgbClr val="39D0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65836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D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Bytecode for  add(a,b)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01168" y="1005840"/>
            <a:ext cx="2523744" cy="256032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" y="100584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Ldar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24128" y="10058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508760" y="10058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'a' → accumulator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01168" y="1280160"/>
            <a:ext cx="2523744" cy="256032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7744" y="128016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024128" y="12801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508760" y="12801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 += r1 (b)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01168" y="1554480"/>
            <a:ext cx="2523744" cy="256032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7744" y="155448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024128" y="15544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r0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508760" y="15544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result → r0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01168" y="1828800"/>
            <a:ext cx="2523744" cy="256032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7744" y="18288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024128" y="18288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508760" y="18288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accumulator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01168" y="2103120"/>
            <a:ext cx="2523744" cy="256032"/>
          </a:xfrm>
          <a:prstGeom prst="rect">
            <a:avLst/>
          </a:prstGeom>
          <a:solidFill>
            <a:srgbClr val="1A1A2A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7744" y="21031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 feedback vector boundary ──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01168" y="2377440"/>
            <a:ext cx="2523744" cy="256032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7744" y="237744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LdaSmi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4128" y="23774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508760" y="23774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int 2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01168" y="2651760"/>
            <a:ext cx="2523744" cy="256032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7744" y="265176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024128" y="26517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r0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508760" y="26517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→ r0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01168" y="2926080"/>
            <a:ext cx="2523744" cy="256032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37744" y="292608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LdaSmi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024128" y="29260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[3]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508760" y="29260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int 3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01168" y="3200400"/>
            <a:ext cx="2523744" cy="256032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7744" y="32004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024128" y="32004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508760" y="32004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→ r1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201168" y="3474720"/>
            <a:ext cx="2523744" cy="256032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37744" y="34747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CallUndefinedReceiver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1024128" y="34747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508760" y="34747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add(r0,r1)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926080" y="658368"/>
            <a:ext cx="2331720" cy="164592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2926080" y="658368"/>
            <a:ext cx="2331720" cy="320040"/>
          </a:xfrm>
          <a:prstGeom prst="rect">
            <a:avLst/>
          </a:prstGeom>
          <a:solidFill>
            <a:srgbClr val="131C2A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971800" y="65836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Register machine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999232" y="1024128"/>
            <a:ext cx="822960" cy="210312"/>
          </a:xfrm>
          <a:prstGeom prst="rect">
            <a:avLst/>
          </a:prstGeom>
          <a:solidFill>
            <a:srgbClr val="0D2030"/>
          </a:solidFill>
          <a:ln w="10160">
            <a:solidFill>
              <a:srgbClr val="3FB95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999232" y="1024128"/>
            <a:ext cx="822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accumulator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3858768" y="1024128"/>
            <a:ext cx="13258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+ 3 = 5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2999232" y="1261872"/>
            <a:ext cx="822960" cy="210312"/>
          </a:xfrm>
          <a:prstGeom prst="rect">
            <a:avLst/>
          </a:prstGeom>
          <a:solidFill>
            <a:srgbClr val="0D2030"/>
          </a:solidFill>
          <a:ln w="10160">
            <a:solidFill>
              <a:srgbClr val="E3B34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999232" y="1261872"/>
            <a:ext cx="822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r0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3858768" y="1261872"/>
            <a:ext cx="13258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2999232" y="1499616"/>
            <a:ext cx="822960" cy="210312"/>
          </a:xfrm>
          <a:prstGeom prst="rect">
            <a:avLst/>
          </a:prstGeom>
          <a:solidFill>
            <a:srgbClr val="0D2030"/>
          </a:solidFill>
          <a:ln w="10160">
            <a:solidFill>
              <a:srgbClr val="E3B34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999232" y="1499616"/>
            <a:ext cx="822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3858768" y="1499616"/>
            <a:ext cx="13258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2999232" y="1737360"/>
            <a:ext cx="822960" cy="210312"/>
          </a:xfrm>
          <a:prstGeom prst="rect">
            <a:avLst/>
          </a:prstGeom>
          <a:solidFill>
            <a:srgbClr val="0D2030"/>
          </a:solidFill>
          <a:ln w="10160">
            <a:solidFill>
              <a:srgbClr val="8B949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999232" y="1737360"/>
            <a:ext cx="822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r2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3858768" y="1737360"/>
            <a:ext cx="13258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(empty)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2999232" y="1975104"/>
            <a:ext cx="822960" cy="210312"/>
          </a:xfrm>
          <a:prstGeom prst="rect">
            <a:avLst/>
          </a:prstGeom>
          <a:solidFill>
            <a:srgbClr val="0D2030"/>
          </a:solidFill>
          <a:ln w="10160">
            <a:solidFill>
              <a:srgbClr val="D2A8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999232" y="1975104"/>
            <a:ext cx="822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3858768" y="1975104"/>
            <a:ext cx="13258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global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2926080" y="2423160"/>
            <a:ext cx="2331720" cy="141732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2926080" y="2423160"/>
            <a:ext cx="2331720" cy="320040"/>
          </a:xfrm>
          <a:prstGeom prst="rect">
            <a:avLst/>
          </a:prstGeom>
          <a:solidFill>
            <a:srgbClr val="282010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971800" y="242316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Feedback vector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2999232" y="2779776"/>
            <a:ext cx="640080" cy="256032"/>
          </a:xfrm>
          <a:prstGeom prst="rect">
            <a:avLst/>
          </a:prstGeom>
          <a:solidFill>
            <a:srgbClr val="201808"/>
          </a:solidFill>
          <a:ln w="10160">
            <a:solidFill>
              <a:srgbClr val="3FB95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999232" y="277977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slot[0]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3675888" y="2779776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Add: Smi + Smi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2999232" y="3081528"/>
            <a:ext cx="640080" cy="256032"/>
          </a:xfrm>
          <a:prstGeom prst="rect">
            <a:avLst/>
          </a:prstGeom>
          <a:solidFill>
            <a:srgbClr val="201808"/>
          </a:solidFill>
          <a:ln w="10160">
            <a:solidFill>
              <a:srgbClr val="39D0C9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999232" y="308152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9D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slot[1]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3675888" y="3081528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Call: add [MONO]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2999232" y="3383280"/>
            <a:ext cx="640080" cy="256032"/>
          </a:xfrm>
          <a:prstGeom prst="rect">
            <a:avLst/>
          </a:prstGeom>
          <a:solidFill>
            <a:srgbClr val="201808"/>
          </a:solidFill>
          <a:ln w="10160">
            <a:solidFill>
              <a:srgbClr val="F0883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999232" y="338328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slot[2]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3675888" y="338328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BinOp type: INT32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5440680" y="658368"/>
            <a:ext cx="352044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5440680" y="658368"/>
            <a:ext cx="73152" cy="13716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559552" y="722376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register machine?</a:t>
            </a: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5559552" y="1060704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machines (like JVM) push/pop everything. Register machines are faster: operands are named registers, so the bytecode stream is shorter and dispatch overhead is lower.</a:t>
            </a:r>
            <a:endParaRPr lang="en-US" sz="1050" dirty="0"/>
          </a:p>
        </p:txBody>
      </p:sp>
      <p:sp>
        <p:nvSpPr>
          <p:cNvPr id="80" name="Shape 78"/>
          <p:cNvSpPr/>
          <p:nvPr/>
        </p:nvSpPr>
        <p:spPr>
          <a:xfrm>
            <a:off x="5440680" y="2148840"/>
            <a:ext cx="352044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39D0C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5440680" y="2148840"/>
            <a:ext cx="73152" cy="1371600"/>
          </a:xfrm>
          <a:prstGeom prst="rect">
            <a:avLst/>
          </a:prstGeom>
          <a:solidFill>
            <a:srgbClr val="39D0C9"/>
          </a:solidFill>
          <a:ln w="12700">
            <a:solidFill>
              <a:srgbClr val="39D0C9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559552" y="221284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9D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accumulator is special</a:t>
            </a:r>
            <a:endParaRPr lang="en-US" sz="1200" dirty="0"/>
          </a:p>
        </p:txBody>
      </p:sp>
      <p:sp>
        <p:nvSpPr>
          <p:cNvPr id="83" name="Text 81"/>
          <p:cNvSpPr/>
          <p:nvPr/>
        </p:nvSpPr>
        <p:spPr>
          <a:xfrm>
            <a:off x="5559552" y="2551176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V8's Ignition uses a single implicit accumulator register for most operations. 'LdaSmi [2]' = Load Small Integer 2 into the accumulator. This cuts bytecode size significantly.</a:t>
            </a:r>
            <a:endParaRPr lang="en-US" sz="1050" dirty="0"/>
          </a:p>
        </p:txBody>
      </p:sp>
      <p:sp>
        <p:nvSpPr>
          <p:cNvPr id="84" name="Shape 82"/>
          <p:cNvSpPr/>
          <p:nvPr/>
        </p:nvSpPr>
        <p:spPr>
          <a:xfrm>
            <a:off x="5440680" y="3639312"/>
            <a:ext cx="352044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5" name="Shape 83"/>
          <p:cNvSpPr/>
          <p:nvPr/>
        </p:nvSpPr>
        <p:spPr>
          <a:xfrm>
            <a:off x="5440680" y="3639312"/>
            <a:ext cx="73152" cy="1371600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559552" y="37033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vector = the nervous system</a:t>
            </a:r>
            <a:endParaRPr lang="en-US" sz="1200" dirty="0"/>
          </a:p>
        </p:txBody>
      </p:sp>
      <p:sp>
        <p:nvSpPr>
          <p:cNvPr id="87" name="Text 85"/>
          <p:cNvSpPr/>
          <p:nvPr/>
        </p:nvSpPr>
        <p:spPr>
          <a:xfrm>
            <a:off x="5559552" y="4041648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bytecode call site has a feedback slot. After ~1-10 calls, V8 knows the dominant type. TurboFan uses this to speculate: 'x is always a Smi, compile it that way.'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Classes &amp; Inline Caches — V8's Speed Secret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9144000" cy="27432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658368"/>
            <a:ext cx="4114800" cy="210312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658368"/>
            <a:ext cx="4114800" cy="320040"/>
          </a:xfrm>
          <a:prstGeom prst="rect">
            <a:avLst/>
          </a:prstGeom>
          <a:solidFill>
            <a:srgbClr val="252014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7744" y="658368"/>
            <a:ext cx="4005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Hidden Class (Shape) transitions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10241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 = {};          // Map C0: {}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12984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p.x = 10;              // Map C1: {x}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15727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p.y = 20;              // Map C2: {x,y}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874520"/>
            <a:ext cx="822960" cy="640080"/>
          </a:xfrm>
          <a:prstGeom prst="rect">
            <a:avLst/>
          </a:prstGeom>
          <a:solidFill>
            <a:srgbClr val="21262D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8745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219456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(empty)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280160" y="2194560"/>
            <a:ext cx="822960" cy="0"/>
          </a:xfrm>
          <a:prstGeom prst="line">
            <a:avLst/>
          </a:prstGeom>
          <a:noFill/>
          <a:ln w="12700">
            <a:solidFill>
              <a:srgbClr val="8B949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80160" y="2084832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add .x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1645920" y="1874520"/>
            <a:ext cx="822960" cy="640080"/>
          </a:xfrm>
          <a:prstGeom prst="rect">
            <a:avLst/>
          </a:prstGeom>
          <a:solidFill>
            <a:srgbClr val="21262D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45920" y="18745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645920" y="219456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{x}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468880" y="2194560"/>
            <a:ext cx="822960" cy="0"/>
          </a:xfrm>
          <a:prstGeom prst="line">
            <a:avLst/>
          </a:prstGeom>
          <a:noFill/>
          <a:ln w="12700">
            <a:solidFill>
              <a:srgbClr val="58A6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68880" y="2084832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add .y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834640" y="1874520"/>
            <a:ext cx="822960" cy="640080"/>
          </a:xfrm>
          <a:prstGeom prst="rect">
            <a:avLst/>
          </a:prstGeom>
          <a:solidFill>
            <a:srgbClr val="21262D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34640" y="18745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834640" y="219456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{x, y}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480560" y="658368"/>
            <a:ext cx="4480560" cy="2103120"/>
          </a:xfrm>
          <a:prstGeom prst="rect">
            <a:avLst/>
          </a:prstGeom>
          <a:solidFill>
            <a:srgbClr val="161B22"/>
          </a:solidFill>
          <a:ln w="12700">
            <a:solidFill>
              <a:srgbClr val="39D0C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80560" y="658368"/>
            <a:ext cx="4480560" cy="320040"/>
          </a:xfrm>
          <a:prstGeom prst="rect">
            <a:avLst/>
          </a:prstGeom>
          <a:solidFill>
            <a:srgbClr val="132222"/>
          </a:solidFill>
          <a:ln w="12700">
            <a:solidFill>
              <a:srgbClr val="39D0C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35424" y="658368"/>
            <a:ext cx="4370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D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Inline Cache (IC) states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35424" y="1033272"/>
            <a:ext cx="640080" cy="256032"/>
          </a:xfrm>
          <a:prstGeom prst="rect">
            <a:avLst/>
          </a:prstGeom>
          <a:solidFill>
            <a:srgbClr val="0D201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35424" y="103327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230368" y="10332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shape every call.  V8 compiles a direct field-offset load. Zero overhead.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818120" y="10332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████████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818120" y="130759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4535424" y="1581912"/>
            <a:ext cx="640080" cy="256032"/>
          </a:xfrm>
          <a:prstGeom prst="rect">
            <a:avLst/>
          </a:prstGeom>
          <a:solidFill>
            <a:srgbClr val="20200A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35424" y="158191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230368" y="15819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2-4 shapes seen. V8 builds a lookup table. Still very fast.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818120" y="1581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████████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818120" y="185623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4535424" y="2130552"/>
            <a:ext cx="640080" cy="256032"/>
          </a:xfrm>
          <a:prstGeom prst="rect">
            <a:avLst/>
          </a:prstGeom>
          <a:solidFill>
            <a:srgbClr val="200A0A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35424" y="213055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MEGA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230368" y="21305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shapes. Falls back to runtime lookup. Dynamic, slow.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818120" y="21305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████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818120" y="24048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182880" y="2907792"/>
            <a:ext cx="2788920" cy="201168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182880" y="2907792"/>
            <a:ext cx="73152" cy="2011680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10896" y="2962656"/>
            <a:ext cx="2587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property order matter?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310896" y="3337560"/>
            <a:ext cx="25877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{ x, y } and { y, x } get DIFFERENT hidden classes in V8, even though they hold the same data. Mixup → polymorphic IC → 2-3× slower property access. Always add properties in the same order.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172968" y="2907792"/>
            <a:ext cx="2788920" cy="2011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9D0C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172968" y="2907792"/>
            <a:ext cx="73152" cy="2011680"/>
          </a:xfrm>
          <a:prstGeom prst="rect">
            <a:avLst/>
          </a:prstGeom>
          <a:solidFill>
            <a:srgbClr val="39D0C9"/>
          </a:solidFill>
          <a:ln w="12700">
            <a:solidFill>
              <a:srgbClr val="39D0C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300984" y="2962656"/>
            <a:ext cx="2587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9D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an IC works mechanically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3300984" y="3337560"/>
            <a:ext cx="25877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very first time p.x runs, V8 checks the shape, finds offset 0, and patches the bytecode with a 'load from offset 0 if shape == C2' stub. The second call hits the stub directly — no hash lookup.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163056" y="2907792"/>
            <a:ext cx="2788920" cy="2011680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163056" y="2907792"/>
            <a:ext cx="73152" cy="201168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91072" y="2962656"/>
            <a:ext cx="2587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takeaway for JS devs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6291072" y="3337560"/>
            <a:ext cx="25877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objects with all properties up front (constructor pattern). Don't add or delete properties conditionally. Avoid mixing types in the same slot (number then string). These are not style rules — they control JIT quality.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— Three Compiler Tiers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9144000" cy="27432"/>
          </a:xfrm>
          <a:prstGeom prst="rect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658368"/>
            <a:ext cx="2788920" cy="4297680"/>
          </a:xfrm>
          <a:prstGeom prst="rect">
            <a:avLst/>
          </a:prstGeom>
          <a:solidFill>
            <a:srgbClr val="161B22"/>
          </a:solidFill>
          <a:ln w="19050">
            <a:solidFill>
              <a:srgbClr val="E3B34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658368"/>
            <a:ext cx="2788920" cy="457200"/>
          </a:xfrm>
          <a:prstGeom prst="rect">
            <a:avLst/>
          </a:prstGeom>
          <a:solidFill>
            <a:srgbClr val="21262D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5836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Sparkplug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91440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JIT  ·  ~1 μs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11887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Compiles bytecode → machine code in one linear pass.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0040" y="15544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type analysis. No optimization.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0040" y="19202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avoids interpreter dispatch overhead.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0040" y="22860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unoptimized native code, fast to produce.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724912"/>
            <a:ext cx="2468880" cy="13716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724912"/>
            <a:ext cx="603504" cy="137160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88036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time →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74320" y="3154680"/>
            <a:ext cx="2560320" cy="365760"/>
          </a:xfrm>
          <a:prstGeom prst="rect">
            <a:avLst/>
          </a:prstGeom>
          <a:solidFill>
            <a:srgbClr val="21262D"/>
          </a:solidFill>
          <a:ln w="6350">
            <a:solidFill>
              <a:srgbClr val="E3B3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1546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fires: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04672" y="3154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 ~100 function calls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3657600"/>
            <a:ext cx="2560320" cy="1097280"/>
          </a:xfrm>
          <a:prstGeom prst="rect">
            <a:avLst/>
          </a:prstGeom>
          <a:solidFill>
            <a:srgbClr val="160A0A"/>
          </a:solidFill>
          <a:ln w="6350">
            <a:solidFill>
              <a:srgbClr val="F8514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7033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Deoptimisation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0040" y="39776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Sparkplug doesn't speculate — no deopt needed.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172968" y="658368"/>
            <a:ext cx="2788920" cy="4297680"/>
          </a:xfrm>
          <a:prstGeom prst="rect">
            <a:avLst/>
          </a:prstGeom>
          <a:solidFill>
            <a:srgbClr val="161B22"/>
          </a:solidFill>
          <a:ln w="19050">
            <a:solidFill>
              <a:srgbClr val="F0883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72968" y="658368"/>
            <a:ext cx="2788920" cy="457200"/>
          </a:xfrm>
          <a:prstGeom prst="rect">
            <a:avLst/>
          </a:prstGeom>
          <a:solidFill>
            <a:srgbClr val="21262D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64408" y="65836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Maglev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264408" y="91440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Mid-tier JIT  ·  ~50 μs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10128" y="11887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SSA (Static Single Assignment) IR.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310128" y="15544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feedback vector for type speculation.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310128" y="19202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loop-invariant code motion &amp; deopt guards.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310128" y="22860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well-optimised code, moderate compile cost.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310128" y="2724912"/>
            <a:ext cx="2468880" cy="13716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10128" y="2724912"/>
            <a:ext cx="1508760" cy="13716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10128" y="288036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time →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264408" y="3154680"/>
            <a:ext cx="2560320" cy="365760"/>
          </a:xfrm>
          <a:prstGeom prst="rect">
            <a:avLst/>
          </a:prstGeom>
          <a:solidFill>
            <a:srgbClr val="21262D"/>
          </a:solidFill>
          <a:ln w="6350">
            <a:solidFill>
              <a:srgbClr val="F0883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10128" y="31546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fires: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794760" y="3154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 ~1 000 function calls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264408" y="3657600"/>
            <a:ext cx="2560320" cy="1097280"/>
          </a:xfrm>
          <a:prstGeom prst="rect">
            <a:avLst/>
          </a:prstGeom>
          <a:solidFill>
            <a:srgbClr val="160A0A"/>
          </a:solidFill>
          <a:ln w="6350">
            <a:solidFill>
              <a:srgbClr val="F8514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10128" y="37033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Deoptimisation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310128" y="39776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speculation fails (wrong type), Maglev returns control to Ignition and records the deopt reason.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163056" y="658368"/>
            <a:ext cx="2788920" cy="4297680"/>
          </a:xfrm>
          <a:prstGeom prst="rect">
            <a:avLst/>
          </a:prstGeom>
          <a:solidFill>
            <a:srgbClr val="161B22"/>
          </a:solidFill>
          <a:ln w="19050">
            <a:solidFill>
              <a:srgbClr val="F8514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63056" y="658368"/>
            <a:ext cx="2788920" cy="457200"/>
          </a:xfrm>
          <a:prstGeom prst="rect">
            <a:avLst/>
          </a:prstGeom>
          <a:solidFill>
            <a:srgbClr val="21262D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54496" y="65836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TurboFan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254496" y="91440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Optimising JIT  ·  ~500 μs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300216" y="11887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Sea-of-nodes IR: every value is a node in a graph.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300216" y="15544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value numbering, inlining, escape analysis.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300216" y="19202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Speculative: if x is always Smi, treat it as int32.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300216" y="22860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near-C++ performance code.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300216" y="2724912"/>
            <a:ext cx="2468880" cy="13716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300216" y="2724912"/>
            <a:ext cx="2468880" cy="13716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00216" y="288036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time →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6254496" y="3154680"/>
            <a:ext cx="2560320" cy="365760"/>
          </a:xfrm>
          <a:prstGeom prst="rect">
            <a:avLst/>
          </a:prstGeom>
          <a:solidFill>
            <a:srgbClr val="21262D"/>
          </a:solidFill>
          <a:ln w="6350">
            <a:solidFill>
              <a:srgbClr val="F8514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00216" y="31546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fires: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784848" y="3154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 ~10 000 function calls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254496" y="3657600"/>
            <a:ext cx="2560320" cy="1097280"/>
          </a:xfrm>
          <a:prstGeom prst="rect">
            <a:avLst/>
          </a:prstGeom>
          <a:solidFill>
            <a:srgbClr val="160A0A"/>
          </a:solidFill>
          <a:ln w="6350">
            <a:solidFill>
              <a:srgbClr val="F8514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00216" y="37033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Deoptimisation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300216" y="39776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TurboFan deopt is costly: discard compiled code, restart in Ignition with bailout points. Avoid type surprises.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TurboFan: Sea-of-Nodes IR — How Optimisation Actually Works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9144000" cy="2743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658368"/>
            <a:ext cx="256032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658368"/>
            <a:ext cx="2560320" cy="292608"/>
          </a:xfrm>
          <a:prstGeom prst="rect">
            <a:avLst/>
          </a:prstGeom>
          <a:solidFill>
            <a:srgbClr val="21262D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9456" y="65836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Hot function (JS)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19456" y="978408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sum(arr)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t = 0;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(let i=0; i&lt;arr.length; i++)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 += arr[i];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24912" y="1344168"/>
            <a:ext cx="411480" cy="0"/>
          </a:xfrm>
          <a:prstGeom prst="line">
            <a:avLst/>
          </a:prstGeom>
          <a:noFill/>
          <a:ln w="19050">
            <a:solidFill>
              <a:srgbClr val="F851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7520" y="125272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5149"/>
                </a:solidFill>
              </a:rPr>
              <a:t>▶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658368"/>
            <a:ext cx="5760720" cy="4297680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658368"/>
            <a:ext cx="5760720" cy="292608"/>
          </a:xfrm>
          <a:prstGeom prst="rect">
            <a:avLst/>
          </a:prstGeom>
          <a:solidFill>
            <a:srgbClr val="220A0A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55264" y="658368"/>
            <a:ext cx="56509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TurboFan: sea-of-nodes IR graph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429000" y="1051560"/>
            <a:ext cx="987552" cy="292608"/>
          </a:xfrm>
          <a:prstGeom prst="rect">
            <a:avLst/>
          </a:prstGeom>
          <a:solidFill>
            <a:srgbClr val="21262D"/>
          </a:solidFill>
          <a:ln w="15240">
            <a:solidFill>
              <a:srgbClr val="8B949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1051560"/>
            <a:ext cx="987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846320" y="1051560"/>
            <a:ext cx="987552" cy="292608"/>
          </a:xfrm>
          <a:prstGeom prst="rect">
            <a:avLst/>
          </a:prstGeom>
          <a:solidFill>
            <a:srgbClr val="21262D"/>
          </a:solidFill>
          <a:ln w="15240">
            <a:solidFill>
              <a:srgbClr val="58A6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051560"/>
            <a:ext cx="987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Parameter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126480" y="1051560"/>
            <a:ext cx="987552" cy="292608"/>
          </a:xfrm>
          <a:prstGeom prst="rect">
            <a:avLst/>
          </a:prstGeom>
          <a:solidFill>
            <a:srgbClr val="21262D"/>
          </a:solidFill>
          <a:ln w="15240">
            <a:solidFill>
              <a:srgbClr val="39D0C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1051560"/>
            <a:ext cx="987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9D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LdaArrayLen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429000" y="1874520"/>
            <a:ext cx="987552" cy="292608"/>
          </a:xfrm>
          <a:prstGeom prst="rect">
            <a:avLst/>
          </a:prstGeom>
          <a:solidFill>
            <a:srgbClr val="21262D"/>
          </a:solidFill>
          <a:ln w="15240">
            <a:solidFill>
              <a:srgbClr val="D2A8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29000" y="1874520"/>
            <a:ext cx="987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Phi (t)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846320" y="1874520"/>
            <a:ext cx="987552" cy="292608"/>
          </a:xfrm>
          <a:prstGeom prst="rect">
            <a:avLst/>
          </a:prstGeom>
          <a:solidFill>
            <a:srgbClr val="21262D"/>
          </a:solidFill>
          <a:ln w="15240">
            <a:solidFill>
              <a:srgbClr val="D2A8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874520"/>
            <a:ext cx="987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Phi (i)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126480" y="1874520"/>
            <a:ext cx="987552" cy="292608"/>
          </a:xfrm>
          <a:prstGeom prst="rect">
            <a:avLst/>
          </a:prstGeom>
          <a:solidFill>
            <a:srgbClr val="21262D"/>
          </a:solidFill>
          <a:ln w="15240">
            <a:solidFill>
              <a:srgbClr val="E3B34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1874520"/>
            <a:ext cx="987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Cmp i&lt;len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429000" y="2697480"/>
            <a:ext cx="987552" cy="292608"/>
          </a:xfrm>
          <a:prstGeom prst="rect">
            <a:avLst/>
          </a:prstGeom>
          <a:solidFill>
            <a:srgbClr val="21262D"/>
          </a:solidFill>
          <a:ln w="15240">
            <a:solidFill>
              <a:srgbClr val="F0883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29000" y="2697480"/>
            <a:ext cx="987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LoadElement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846320" y="2697480"/>
            <a:ext cx="987552" cy="292608"/>
          </a:xfrm>
          <a:prstGeom prst="rect">
            <a:avLst/>
          </a:prstGeom>
          <a:solidFill>
            <a:srgbClr val="21262D"/>
          </a:solidFill>
          <a:ln w="15240">
            <a:solidFill>
              <a:srgbClr val="F0883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2697480"/>
            <a:ext cx="987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126480" y="2697480"/>
            <a:ext cx="987552" cy="292608"/>
          </a:xfrm>
          <a:prstGeom prst="rect">
            <a:avLst/>
          </a:prstGeom>
          <a:solidFill>
            <a:srgbClr val="21262D"/>
          </a:solidFill>
          <a:ln w="15240">
            <a:solidFill>
              <a:srgbClr val="F0883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0" y="2697480"/>
            <a:ext cx="987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 (i++)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429000" y="3520440"/>
            <a:ext cx="987552" cy="292608"/>
          </a:xfrm>
          <a:prstGeom prst="rect">
            <a:avLst/>
          </a:prstGeom>
          <a:solidFill>
            <a:srgbClr val="21262D"/>
          </a:solidFill>
          <a:ln w="15240">
            <a:solidFill>
              <a:srgbClr val="F8514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29000" y="3520440"/>
            <a:ext cx="987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Guard:Smi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846320" y="3520440"/>
            <a:ext cx="987552" cy="292608"/>
          </a:xfrm>
          <a:prstGeom prst="rect">
            <a:avLst/>
          </a:prstGeom>
          <a:solidFill>
            <a:srgbClr val="21262D"/>
          </a:solidFill>
          <a:ln w="15240">
            <a:solidFill>
              <a:srgbClr val="3FB9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3520440"/>
            <a:ext cx="987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126480" y="3520440"/>
            <a:ext cx="987552" cy="292608"/>
          </a:xfrm>
          <a:prstGeom prst="rect">
            <a:avLst/>
          </a:prstGeom>
          <a:solidFill>
            <a:srgbClr val="21262D"/>
          </a:solidFill>
          <a:ln w="15240">
            <a:solidFill>
              <a:srgbClr val="8B949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26480" y="3520440"/>
            <a:ext cx="987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922776" y="1344168"/>
            <a:ext cx="0" cy="530352"/>
          </a:xfrm>
          <a:prstGeom prst="line">
            <a:avLst/>
          </a:prstGeom>
          <a:noFill/>
          <a:ln w="7620">
            <a:solidFill>
              <a:srgbClr val="30363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340096" y="1344168"/>
            <a:ext cx="0" cy="530352"/>
          </a:xfrm>
          <a:prstGeom prst="line">
            <a:avLst/>
          </a:prstGeom>
          <a:noFill/>
          <a:ln w="7620">
            <a:solidFill>
              <a:srgbClr val="30363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620256" y="1344168"/>
            <a:ext cx="0" cy="530352"/>
          </a:xfrm>
          <a:prstGeom prst="line">
            <a:avLst/>
          </a:prstGeom>
          <a:noFill/>
          <a:ln w="7620">
            <a:solidFill>
              <a:srgbClr val="30363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620256" y="2167128"/>
            <a:ext cx="0" cy="530352"/>
          </a:xfrm>
          <a:prstGeom prst="line">
            <a:avLst/>
          </a:prstGeom>
          <a:noFill/>
          <a:ln w="7620">
            <a:solidFill>
              <a:srgbClr val="30363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340096" y="2167128"/>
            <a:ext cx="0" cy="530352"/>
          </a:xfrm>
          <a:prstGeom prst="line">
            <a:avLst/>
          </a:prstGeom>
          <a:noFill/>
          <a:ln w="7620">
            <a:solidFill>
              <a:srgbClr val="30363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922776" y="2167128"/>
            <a:ext cx="0" cy="530352"/>
          </a:xfrm>
          <a:prstGeom prst="line">
            <a:avLst/>
          </a:prstGeom>
          <a:noFill/>
          <a:ln w="7620">
            <a:solidFill>
              <a:srgbClr val="30363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340096" y="2990088"/>
            <a:ext cx="0" cy="530352"/>
          </a:xfrm>
          <a:prstGeom prst="line">
            <a:avLst/>
          </a:prstGeom>
          <a:noFill/>
          <a:ln w="7620">
            <a:solidFill>
              <a:srgbClr val="30363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922776" y="2990088"/>
            <a:ext cx="0" cy="530352"/>
          </a:xfrm>
          <a:prstGeom prst="line">
            <a:avLst/>
          </a:prstGeom>
          <a:noFill/>
          <a:ln w="7620">
            <a:solidFill>
              <a:srgbClr val="30363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620256" y="2990088"/>
            <a:ext cx="0" cy="530352"/>
          </a:xfrm>
          <a:prstGeom prst="line">
            <a:avLst/>
          </a:prstGeom>
          <a:noFill/>
          <a:ln w="7620">
            <a:solidFill>
              <a:srgbClr val="30363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910328" y="2020824"/>
            <a:ext cx="429768" cy="-146304"/>
          </a:xfrm>
          <a:prstGeom prst="line">
            <a:avLst/>
          </a:prstGeom>
          <a:noFill/>
          <a:ln w="7620">
            <a:solidFill>
              <a:srgbClr val="30363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126480" y="2020824"/>
            <a:ext cx="-292608" cy="0"/>
          </a:xfrm>
          <a:prstGeom prst="line">
            <a:avLst/>
          </a:prstGeom>
          <a:noFill/>
          <a:ln w="7620">
            <a:solidFill>
              <a:srgbClr val="30363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910328" y="2843784"/>
            <a:ext cx="429768" cy="-146304"/>
          </a:xfrm>
          <a:prstGeom prst="line">
            <a:avLst/>
          </a:prstGeom>
          <a:noFill/>
          <a:ln w="7620">
            <a:solidFill>
              <a:srgbClr val="30363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406640" y="10972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edges (blue)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406640" y="13716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 between nodes — each node reads inputs and produces an output. e.g. Add takes two Phi outputs.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406640" y="18745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edges (gray)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406640" y="21488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of execution. Loop back-edge from Inc → Phi creates the cycle. Scheduler emits instructions following these.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7406640" y="35204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nodes (red)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406640" y="37947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TurboFan inserts type guards. 'Guard:Smi' checks t is still a small integer. If not → deoptimise immediately.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164592" y="3749040"/>
            <a:ext cx="274320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D2A8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164592" y="3749040"/>
            <a:ext cx="64008" cy="1234440"/>
          </a:xfrm>
          <a:prstGeom prst="rect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83464" y="3794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2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Inlining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283464" y="4087368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TurboFan can inline the called function's entire graph into the caller — replacing the Call node with actual computation. This removes call overhead and enables cross-function optimisation.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3154680" y="3749040"/>
            <a:ext cx="274320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9D0C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3154680" y="3749040"/>
            <a:ext cx="64008" cy="1234440"/>
          </a:xfrm>
          <a:prstGeom prst="rect">
            <a:avLst/>
          </a:prstGeom>
          <a:solidFill>
            <a:srgbClr val="39D0C9"/>
          </a:solidFill>
          <a:ln w="12700">
            <a:solidFill>
              <a:srgbClr val="39D0C9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273552" y="3794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9D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Escape Analysis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3273552" y="4087368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 object never leaves the function, TurboFan allocates it on the stack (or in registers), eliminating heap allocation and GC pressure entirely.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6144768" y="3749040"/>
            <a:ext cx="274320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6144768" y="3749040"/>
            <a:ext cx="64008" cy="123444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263640" y="3794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code out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6263640" y="4087368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all graph transformations, an instruction selector walks the graph and emits platform-specific opcodes (x64 MOV, ADD, LEA…). The register allocator assigns physical registers.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Heap &amp; Garbage Collector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9144000" cy="2743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658368"/>
            <a:ext cx="5120640" cy="4297680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658368"/>
            <a:ext cx="5120640" cy="292608"/>
          </a:xfrm>
          <a:prstGeom prst="rect">
            <a:avLst/>
          </a:prstGeom>
          <a:solidFill>
            <a:srgbClr val="0E1C0E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7744" y="658368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V8 heap layout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005840"/>
            <a:ext cx="4846320" cy="822960"/>
          </a:xfrm>
          <a:prstGeom prst="rect">
            <a:avLst/>
          </a:prstGeom>
          <a:solidFill>
            <a:srgbClr val="0A1F10"/>
          </a:solidFill>
          <a:ln w="15240">
            <a:solidFill>
              <a:srgbClr val="3FB9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0058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SPACE  (Young generation  ·  1-8 MB)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4048" y="1280160"/>
            <a:ext cx="2286000" cy="420624"/>
          </a:xfrm>
          <a:prstGeom prst="rect">
            <a:avLst/>
          </a:prstGeom>
          <a:solidFill>
            <a:srgbClr val="21262D"/>
          </a:solidFill>
          <a:ln w="7620">
            <a:solidFill>
              <a:srgbClr val="3FB9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280160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From-space (live objects)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807208" y="1280160"/>
            <a:ext cx="2286000" cy="420624"/>
          </a:xfrm>
          <a:prstGeom prst="rect">
            <a:avLst/>
          </a:prstGeom>
          <a:solidFill>
            <a:srgbClr val="21262D"/>
          </a:solidFill>
          <a:ln w="7620">
            <a:solidFill>
              <a:srgbClr val="8B949E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2871216" y="1280160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To-space (empty until GC)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463040" y="1490472"/>
            <a:ext cx="1344168" cy="0"/>
          </a:xfrm>
          <a:prstGeom prst="line">
            <a:avLst/>
          </a:prstGeom>
          <a:noFill/>
          <a:ln w="12700">
            <a:solidFill>
              <a:srgbClr val="3FB950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1508760" y="1362456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Scavenger copies survivors ▶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320040" y="1938528"/>
            <a:ext cx="4846320" cy="658368"/>
          </a:xfrm>
          <a:prstGeom prst="rect">
            <a:avLst/>
          </a:prstGeom>
          <a:solidFill>
            <a:srgbClr val="0A1020"/>
          </a:solidFill>
          <a:ln w="15240">
            <a:solidFill>
              <a:srgbClr val="58A6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193852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OLD SPACE  (Tenured  ·  survived 2 GC cycles  ·  up to 2 GB)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1480" y="223113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Mark-Sweep-Compact (incremental, with write barriers)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2706624"/>
            <a:ext cx="2286000" cy="502920"/>
          </a:xfrm>
          <a:prstGeom prst="rect">
            <a:avLst/>
          </a:prstGeom>
          <a:solidFill>
            <a:srgbClr val="1A1030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270662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SPACE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84048" y="2971800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JIT-compiled machine code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43200" y="2706624"/>
            <a:ext cx="2286000" cy="502920"/>
          </a:xfrm>
          <a:prstGeom prst="rect">
            <a:avLst/>
          </a:prstGeom>
          <a:solidFill>
            <a:srgbClr val="201808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16352" y="270662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 SPACE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816352" y="2971800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class objects (Maps)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0040" y="3328416"/>
            <a:ext cx="4846320" cy="502920"/>
          </a:xfrm>
          <a:prstGeom prst="rect">
            <a:avLst/>
          </a:prstGeom>
          <a:solidFill>
            <a:srgbClr val="1A100A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32841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LARGE OBJECT SPACE  (objects &gt; 512 KB  ·  never moved by GC)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3931920"/>
            <a:ext cx="4846320" cy="822960"/>
          </a:xfrm>
          <a:prstGeom prst="rect">
            <a:avLst/>
          </a:prstGeom>
          <a:solidFill>
            <a:srgbClr val="10181E"/>
          </a:solidFill>
          <a:ln w="12700">
            <a:solidFill>
              <a:srgbClr val="39D0C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9319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D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READ-ONLY SPACE  (immovable, shared across Isolates)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11480" y="4206240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undefined · null · true · false · empty string · small integers (Smis)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86400" y="658368"/>
            <a:ext cx="3493008" cy="987552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486400" y="658368"/>
            <a:ext cx="73152" cy="98755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05272" y="7132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Scavenger (Minor GC)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605272" y="10058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every ~1 MB allocation. Copies live young-gen objects to To-space, then flips spaces. Runs in ~1 ms. Most objects die young — this is the fast path.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0" y="1737360"/>
            <a:ext cx="3493008" cy="987552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486400" y="1737360"/>
            <a:ext cx="73152" cy="98755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05272" y="179222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Mark-Sweep (Major GC)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605272" y="208483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all reachable objects (from roots: stack, globals). Sweeps unreachable ones. Compact phase moves survivors together to reduce fragmentation.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486400" y="2816352"/>
            <a:ext cx="3493008" cy="987552"/>
          </a:xfrm>
          <a:prstGeom prst="rect">
            <a:avLst/>
          </a:prstGeom>
          <a:solidFill>
            <a:srgbClr val="161B22"/>
          </a:solidFill>
          <a:ln w="12700">
            <a:solidFill>
              <a:srgbClr val="39D0C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486400" y="2816352"/>
            <a:ext cx="73152" cy="987552"/>
          </a:xfrm>
          <a:prstGeom prst="rect">
            <a:avLst/>
          </a:prstGeom>
          <a:solidFill>
            <a:srgbClr val="39D0C9"/>
          </a:solidFill>
          <a:ln w="12700">
            <a:solidFill>
              <a:srgbClr val="39D0C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05272" y="28712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9D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&amp; Concurrent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605272" y="3163824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Orinoco GC: marking runs concurrently on helper threads while JS executes. Write barriers detect pointer updates during concurrent marking. Pause times under 1 ms.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486400" y="3895344"/>
            <a:ext cx="3493008" cy="987552"/>
          </a:xfrm>
          <a:prstGeom prst="rect">
            <a:avLst/>
          </a:prstGeom>
          <a:solidFill>
            <a:srgbClr val="161B22"/>
          </a:solidFill>
          <a:ln w="12700">
            <a:solidFill>
              <a:srgbClr val="D2A8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5486400" y="3895344"/>
            <a:ext cx="73152" cy="987552"/>
          </a:xfrm>
          <a:prstGeom prst="rect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05272" y="39502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2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 compression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5605272" y="4242816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V8 stores heap pointers as 32-bit offsets from a base address. A 64-bit process holds 4 GB of heap but all pointers cost only 4 bytes — halving memory for object-heavy code.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C++ API Bridge — How Chrome Talks to V8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9144000" cy="2743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658368"/>
            <a:ext cx="3749040" cy="1783080"/>
          </a:xfrm>
          <a:prstGeom prst="rect">
            <a:avLst/>
          </a:prstGeom>
          <a:solidFill>
            <a:srgbClr val="161B22"/>
          </a:solidFill>
          <a:ln w="15240">
            <a:solidFill>
              <a:srgbClr val="39D0C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4592" y="658368"/>
            <a:ext cx="3749040" cy="292608"/>
          </a:xfrm>
          <a:prstGeom prst="rect">
            <a:avLst/>
          </a:prstGeom>
          <a:solidFill>
            <a:srgbClr val="21262D"/>
          </a:solidFill>
          <a:ln w="12700">
            <a:solidFill>
              <a:srgbClr val="39D0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6583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D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world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230368" y="658368"/>
            <a:ext cx="3749040" cy="1783080"/>
          </a:xfrm>
          <a:prstGeom prst="rect">
            <a:avLst/>
          </a:prstGeom>
          <a:solidFill>
            <a:srgbClr val="161B22"/>
          </a:solidFill>
          <a:ln w="15240">
            <a:solidFill>
              <a:srgbClr val="58A6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230368" y="658368"/>
            <a:ext cx="3749040" cy="292608"/>
          </a:xfrm>
          <a:prstGeom prst="rect">
            <a:avLst/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21808" y="6583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world (Chrome / Node.js)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" y="9875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9D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document.getElementById('foo')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4320" y="131673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9D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Promise.resolve(42)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4320" y="16459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9D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Worker('./sw.js')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4320" y="197510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9D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fetch('https://api.example.com')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340096" y="9875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v8::FunctionTemplate::New()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340096" y="131673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v8::ObjectTemplate::SetAccessor()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40096" y="16459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PropertyCallbackArguments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340096" y="197510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FunctionCallbackArguments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913632" y="777240"/>
            <a:ext cx="1316736" cy="1508760"/>
          </a:xfrm>
          <a:prstGeom prst="rect">
            <a:avLst/>
          </a:prstGeom>
          <a:solidFill>
            <a:srgbClr val="0A1428"/>
          </a:solidFill>
          <a:ln w="19050">
            <a:solidFill>
              <a:srgbClr val="D2A8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913632" y="777240"/>
            <a:ext cx="1316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api/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913632" y="1078992"/>
            <a:ext cx="131673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values_[]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returnValue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callbackInfo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913632" y="1234440"/>
            <a:ext cx="-365760" cy="0"/>
          </a:xfrm>
          <a:prstGeom prst="line">
            <a:avLst/>
          </a:prstGeom>
          <a:noFill/>
          <a:ln w="12700">
            <a:solidFill>
              <a:srgbClr val="39D0C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19856" y="115214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D0C9"/>
                </a:solidFill>
              </a:rPr>
              <a:t>◀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230368" y="1234440"/>
            <a:ext cx="-384048" cy="0"/>
          </a:xfrm>
          <a:prstGeom prst="line">
            <a:avLst/>
          </a:prstGeom>
          <a:noFill/>
          <a:ln w="12700">
            <a:solidFill>
              <a:srgbClr val="58A6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115214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</a:rPr>
              <a:t>▶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64592" y="2578608"/>
            <a:ext cx="8814816" cy="2377440"/>
          </a:xfrm>
          <a:prstGeom prst="rect">
            <a:avLst/>
          </a:prstGeom>
          <a:solidFill>
            <a:srgbClr val="161B22"/>
          </a:solidFill>
          <a:ln w="12700">
            <a:solidFill>
              <a:srgbClr val="D2A8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64592" y="2578608"/>
            <a:ext cx="8814816" cy="292608"/>
          </a:xfrm>
          <a:prstGeom prst="rect">
            <a:avLst/>
          </a:prstGeom>
          <a:solidFill>
            <a:srgbClr val="1A0D28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257860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values_[] array layout — the shared memory contract between JS and C++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6032" y="2926080"/>
            <a:ext cx="2057400" cy="804672"/>
          </a:xfrm>
          <a:prstGeom prst="rect">
            <a:avLst/>
          </a:prstGeom>
          <a:solidFill>
            <a:srgbClr val="21262D"/>
          </a:solidFill>
          <a:ln w="10160">
            <a:solidFill>
              <a:srgbClr val="8B949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6032" y="2926080"/>
            <a:ext cx="2057400" cy="64008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1752" y="301752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kIsolateIndex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01752" y="327355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ptr to Isolate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01752" y="347472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tagged as Smi for GC safety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450592" y="2926080"/>
            <a:ext cx="2057400" cy="804672"/>
          </a:xfrm>
          <a:prstGeom prst="rect">
            <a:avLst/>
          </a:prstGeom>
          <a:solidFill>
            <a:srgbClr val="21262D"/>
          </a:solidFill>
          <a:ln w="10160">
            <a:solidFill>
              <a:srgbClr val="39D0C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450592" y="2926080"/>
            <a:ext cx="2057400" cy="64008"/>
          </a:xfrm>
          <a:prstGeom prst="rect">
            <a:avLst/>
          </a:prstGeom>
          <a:solidFill>
            <a:srgbClr val="39D0C9"/>
          </a:solidFill>
          <a:ln w="12700">
            <a:solidFill>
              <a:srgbClr val="39D0C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96312" y="301752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9D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kContextIndex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2496312" y="327355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 Context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2496312" y="347472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global scope in use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645152" y="2926080"/>
            <a:ext cx="2057400" cy="804672"/>
          </a:xfrm>
          <a:prstGeom prst="rect">
            <a:avLst/>
          </a:prstGeom>
          <a:solidFill>
            <a:srgbClr val="21262D"/>
          </a:solidFill>
          <a:ln w="10160">
            <a:solidFill>
              <a:srgbClr val="3FB95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45152" y="2926080"/>
            <a:ext cx="2057400" cy="6400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90872" y="301752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kReturnValueIndex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690872" y="327355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undefined (default)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690872" y="347472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 writes result here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6839712" y="2926080"/>
            <a:ext cx="2057400" cy="804672"/>
          </a:xfrm>
          <a:prstGeom prst="rect">
            <a:avLst/>
          </a:prstGeom>
          <a:solidFill>
            <a:srgbClr val="21262D"/>
          </a:solidFill>
          <a:ln w="10160">
            <a:solidFill>
              <a:srgbClr val="58A6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839712" y="2926080"/>
            <a:ext cx="2057400" cy="6400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85432" y="301752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kTargetIndex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6885432" y="327355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FunctionTemplateInfo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885432" y="347472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fn descriptor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256032" y="3886200"/>
            <a:ext cx="2057400" cy="804672"/>
          </a:xfrm>
          <a:prstGeom prst="rect">
            <a:avLst/>
          </a:prstGeom>
          <a:solidFill>
            <a:srgbClr val="21262D"/>
          </a:solidFill>
          <a:ln w="10160">
            <a:solidFill>
              <a:srgbClr val="E3B34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56032" y="3886200"/>
            <a:ext cx="2057400" cy="64008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01752" y="397764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kNewTargetIndex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301752" y="423367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new.target / 0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301752" y="443484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if not a construct call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2450592" y="3886200"/>
            <a:ext cx="2057400" cy="804672"/>
          </a:xfrm>
          <a:prstGeom prst="rect">
            <a:avLst/>
          </a:prstGeom>
          <a:solidFill>
            <a:srgbClr val="21262D"/>
          </a:solidFill>
          <a:ln w="10160">
            <a:solidFill>
              <a:srgbClr val="F0883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450592" y="3886200"/>
            <a:ext cx="2057400" cy="64008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496312" y="397764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kFirstJSArgumentIndex+n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2496312" y="423367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arg[0] .. arg[n]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2496312" y="443484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arguments as raw Address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4645152" y="3886200"/>
            <a:ext cx="2057400" cy="804672"/>
          </a:xfrm>
          <a:prstGeom prst="rect">
            <a:avLst/>
          </a:prstGeom>
          <a:solidFill>
            <a:srgbClr val="21262D"/>
          </a:solidFill>
          <a:ln w="10160">
            <a:solidFill>
              <a:srgbClr val="D2A8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645152" y="3886200"/>
            <a:ext cx="2057400" cy="64008"/>
          </a:xfrm>
          <a:prstGeom prst="rect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690872" y="397764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kFrameTypeIndex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4690872" y="423367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StackFrame::type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4690872" y="443484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API_CALLBACK or API_CONSTRUCT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WebAssembly Pipeline &amp; Complete V8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9144000" cy="27432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658368"/>
            <a:ext cx="8814816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4592" y="658368"/>
            <a:ext cx="8814816" cy="292608"/>
          </a:xfrm>
          <a:prstGeom prst="rect">
            <a:avLst/>
          </a:prstGeom>
          <a:solidFill>
            <a:srgbClr val="201408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5836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WebAssembly pipeline  (parallel to JS, same TurboFan backend)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" y="1005840"/>
            <a:ext cx="1097280" cy="713232"/>
          </a:xfrm>
          <a:prstGeom prst="rect">
            <a:avLst/>
          </a:prstGeom>
          <a:solidFill>
            <a:srgbClr val="21262D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1005840"/>
            <a:ext cx="1097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.wasm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binary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353312" y="1362456"/>
            <a:ext cx="411480" cy="0"/>
          </a:xfrm>
          <a:prstGeom prst="line">
            <a:avLst/>
          </a:prstGeom>
          <a:noFill/>
          <a:ln w="10160">
            <a:solidFill>
              <a:srgbClr val="8B949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08760" y="1005840"/>
            <a:ext cx="1097280" cy="713232"/>
          </a:xfrm>
          <a:prstGeom prst="rect">
            <a:avLst/>
          </a:prstGeom>
          <a:solidFill>
            <a:srgbClr val="21262D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08760" y="1005840"/>
            <a:ext cx="1097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WASM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Decoder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606040" y="1362456"/>
            <a:ext cx="411480" cy="0"/>
          </a:xfrm>
          <a:prstGeom prst="line">
            <a:avLst/>
          </a:prstGeom>
          <a:noFill/>
          <a:ln w="10160">
            <a:solidFill>
              <a:srgbClr val="8B949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61488" y="1005840"/>
            <a:ext cx="1097280" cy="713232"/>
          </a:xfrm>
          <a:prstGeom prst="rect">
            <a:avLst/>
          </a:prstGeom>
          <a:solidFill>
            <a:srgbClr val="21262D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61488" y="1005840"/>
            <a:ext cx="1097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Liftoff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(baseline)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858768" y="1362456"/>
            <a:ext cx="411480" cy="0"/>
          </a:xfrm>
          <a:prstGeom prst="line">
            <a:avLst/>
          </a:prstGeom>
          <a:noFill/>
          <a:ln w="10160">
            <a:solidFill>
              <a:srgbClr val="8B949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23360" y="1005840"/>
            <a:ext cx="1097280" cy="713232"/>
          </a:xfrm>
          <a:prstGeom prst="rect">
            <a:avLst/>
          </a:prstGeom>
          <a:solidFill>
            <a:srgbClr val="21262D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23360" y="1005840"/>
            <a:ext cx="1097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WASM IR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(graph)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120640" y="1362456"/>
            <a:ext cx="411480" cy="0"/>
          </a:xfrm>
          <a:prstGeom prst="line">
            <a:avLst/>
          </a:prstGeom>
          <a:noFill/>
          <a:ln w="10160">
            <a:solidFill>
              <a:srgbClr val="8B949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76088" y="1005840"/>
            <a:ext cx="1097280" cy="713232"/>
          </a:xfrm>
          <a:prstGeom prst="rect">
            <a:avLst/>
          </a:prstGeom>
          <a:solidFill>
            <a:srgbClr val="21262D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76088" y="1005840"/>
            <a:ext cx="1097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TurboFan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(WASM)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373368" y="1362456"/>
            <a:ext cx="411480" cy="0"/>
          </a:xfrm>
          <a:prstGeom prst="line">
            <a:avLst/>
          </a:prstGeom>
          <a:noFill/>
          <a:ln w="10160">
            <a:solidFill>
              <a:srgbClr val="8B949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28816" y="1005840"/>
            <a:ext cx="1097280" cy="713232"/>
          </a:xfrm>
          <a:prstGeom prst="rect">
            <a:avLst/>
          </a:prstGeom>
          <a:solidFill>
            <a:srgbClr val="21262D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28816" y="1005840"/>
            <a:ext cx="1097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Machine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626096" y="1362456"/>
            <a:ext cx="411480" cy="0"/>
          </a:xfrm>
          <a:prstGeom prst="line">
            <a:avLst/>
          </a:prstGeom>
          <a:noFill/>
          <a:ln w="10160">
            <a:solidFill>
              <a:srgbClr val="8B949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90688" y="1005840"/>
            <a:ext cx="1097280" cy="713232"/>
          </a:xfrm>
          <a:prstGeom prst="rect">
            <a:avLst/>
          </a:prstGeom>
          <a:solidFill>
            <a:srgbClr val="21262D"/>
          </a:solidFill>
          <a:ln w="12700">
            <a:solidFill>
              <a:srgbClr val="39D0C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90688" y="1005840"/>
            <a:ext cx="1097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9D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Sandbox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39D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(mem bounds)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74320" y="1828800"/>
            <a:ext cx="8595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Liftoff compiles each WASM function in streaming order (before the download finishes). TurboFan recompiles hot functions in the background.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64592" y="2377440"/>
            <a:ext cx="8814816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64592" y="2377440"/>
            <a:ext cx="64008" cy="347472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2608" y="237744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JavaScript source / WebAssembly binary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572000" y="2724912"/>
            <a:ext cx="0" cy="91440"/>
          </a:xfrm>
          <a:prstGeom prst="line">
            <a:avLst/>
          </a:prstGeom>
          <a:noFill/>
          <a:ln w="12700">
            <a:solidFill>
              <a:srgbClr val="8B949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64592" y="2816352"/>
            <a:ext cx="8814816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64592" y="2816352"/>
            <a:ext cx="64008" cy="34747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2608" y="2816352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Scanner → Parser → AST  (parsing/)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572000" y="3163824"/>
            <a:ext cx="0" cy="91440"/>
          </a:xfrm>
          <a:prstGeom prst="line">
            <a:avLst/>
          </a:prstGeom>
          <a:noFill/>
          <a:ln w="12700">
            <a:solidFill>
              <a:srgbClr val="3FB95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64592" y="3255264"/>
            <a:ext cx="8814816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39D0C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64592" y="3255264"/>
            <a:ext cx="64008" cy="347472"/>
          </a:xfrm>
          <a:prstGeom prst="rect">
            <a:avLst/>
          </a:prstGeom>
          <a:solidFill>
            <a:srgbClr val="39D0C9"/>
          </a:solidFill>
          <a:ln w="12700">
            <a:solidFill>
              <a:srgbClr val="39D0C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92608" y="3255264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Ignition bytecode + Feedback Vector  (interpreter/)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572000" y="3602736"/>
            <a:ext cx="0" cy="91440"/>
          </a:xfrm>
          <a:prstGeom prst="line">
            <a:avLst/>
          </a:prstGeom>
          <a:noFill/>
          <a:ln w="12700">
            <a:solidFill>
              <a:srgbClr val="39D0C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64592" y="3694176"/>
            <a:ext cx="8814816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64592" y="3694176"/>
            <a:ext cx="64008" cy="347472"/>
          </a:xfrm>
          <a:prstGeom prst="rect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92608" y="3694176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Sparkplug  →  Maglev  →  TurboFan  (compiler/)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572000" y="4041648"/>
            <a:ext cx="0" cy="91440"/>
          </a:xfrm>
          <a:prstGeom prst="line">
            <a:avLst/>
          </a:prstGeom>
          <a:noFill/>
          <a:ln w="12700">
            <a:solidFill>
              <a:srgbClr val="D2A8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64592" y="4133088"/>
            <a:ext cx="8814816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64592" y="4133088"/>
            <a:ext cx="64008" cy="347472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92608" y="413308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Assembler + MacroAssembler  (codegen/arch)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572000" y="4480560"/>
            <a:ext cx="0" cy="91440"/>
          </a:xfrm>
          <a:prstGeom prst="line">
            <a:avLst/>
          </a:prstGeom>
          <a:noFill/>
          <a:ln w="12700">
            <a:solidFill>
              <a:srgbClr val="F0883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64592" y="4572000"/>
            <a:ext cx="8814816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64592" y="4572000"/>
            <a:ext cx="64008" cy="34747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92608" y="457200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Machine code executing on CPU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164592" y="4663440"/>
            <a:ext cx="8814816" cy="384048"/>
          </a:xfrm>
          <a:prstGeom prst="rect">
            <a:avLst/>
          </a:prstGeom>
          <a:solidFill>
            <a:srgbClr val="0A1020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56032" y="466344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Cross-cutting:  objects/ + heap/  — every JS value lives here   ·   handles/ + zones/  — GC-safe pointer wrappers   ·   debug/ + ic/  — breakpoints, inline caches   ·   api/  — the bridge file you studied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in Practice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9144000" cy="27432"/>
          </a:xfrm>
          <a:prstGeom prst="rect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658368"/>
            <a:ext cx="2048256" cy="1371600"/>
          </a:xfrm>
          <a:prstGeom prst="rect">
            <a:avLst/>
          </a:prstGeom>
          <a:solidFill>
            <a:srgbClr val="161B22"/>
          </a:solidFill>
          <a:ln w="19050">
            <a:solidFill>
              <a:srgbClr val="39D0C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64592" y="749808"/>
            <a:ext cx="20482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9D0C9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~200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64592" y="1344168"/>
            <a:ext cx="20482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bytecodes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4592" y="1618488"/>
            <a:ext cx="20482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Ignition's instruction set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395728" y="658368"/>
            <a:ext cx="2048256" cy="1371600"/>
          </a:xfrm>
          <a:prstGeom prst="rect">
            <a:avLst/>
          </a:prstGeom>
          <a:solidFill>
            <a:srgbClr val="161B22"/>
          </a:solidFill>
          <a:ln w="19050">
            <a:solidFill>
              <a:srgbClr val="F8514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395728" y="749808"/>
            <a:ext cx="20482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85149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10×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395728" y="1344168"/>
            <a:ext cx="20482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395728" y="1618488"/>
            <a:ext cx="20482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TurboFan vs interpreter for hot fns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26864" y="658368"/>
            <a:ext cx="2048256" cy="137160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26864" y="749808"/>
            <a:ext cx="20482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FB950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&lt;1 ms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626864" y="1344168"/>
            <a:ext cx="20482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 pause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26864" y="1618488"/>
            <a:ext cx="20482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Orinoco incremental marking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858000" y="658368"/>
            <a:ext cx="2048256" cy="1371600"/>
          </a:xfrm>
          <a:prstGeom prst="rect">
            <a:avLst/>
          </a:prstGeom>
          <a:solidFill>
            <a:srgbClr val="161B22"/>
          </a:solidFill>
          <a:ln w="19050">
            <a:solidFill>
              <a:srgbClr val="D2A8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0" y="749808"/>
            <a:ext cx="20482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2A8FF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4 GB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858000" y="1344168"/>
            <a:ext cx="20482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 max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58000" y="1618488"/>
            <a:ext cx="20482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32-bit compressed pointers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64592" y="2148840"/>
            <a:ext cx="4251960" cy="2834640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64592" y="2148840"/>
            <a:ext cx="4251960" cy="320040"/>
          </a:xfrm>
          <a:prstGeom prst="rect">
            <a:avLst/>
          </a:prstGeom>
          <a:solidFill>
            <a:srgbClr val="200A0A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2148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that hurt V8 performance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56032" y="2523744"/>
            <a:ext cx="4059936" cy="420624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2532888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obj.x = 1; if(cond) obj.y = 2;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920240" y="253288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property → 2 hidden classes → polymorphic IC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56032" y="2999232"/>
            <a:ext cx="4059936" cy="420624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3008376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obj.x;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920240" y="3008376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transitions to slow-mode dictionary object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56032" y="3474720"/>
            <a:ext cx="4059936" cy="420624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3483864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arr[0]=1; arr['foo']=2;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920240" y="3483864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indexed/named → no longer a fast-element array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56032" y="3950208"/>
            <a:ext cx="4059936" cy="420624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395935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f(x) { return x + 1; }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f(1); f('a');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920240" y="395935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mismatch → deoptimise TurboFan code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56032" y="4425696"/>
            <a:ext cx="4059936" cy="420624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443484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{ hotCode() } catch(e) {}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920240" y="443484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Try-catch blocks block TurboFan from inlining (old V8)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727448" y="2148840"/>
            <a:ext cx="4251960" cy="2834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27448" y="2148840"/>
            <a:ext cx="4251960" cy="320040"/>
          </a:xfrm>
          <a:prstGeom prst="rect">
            <a:avLst/>
          </a:prstGeom>
          <a:solidFill>
            <a:srgbClr val="0A200A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18888" y="2148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V8 loves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818888" y="2523744"/>
            <a:ext cx="4059936" cy="420624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82896" y="2532888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Point { constructor(x,y) 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this.x=x; this.y=y; } }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6492240" y="253288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properties in constructor → stable single hidden class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818888" y="2999232"/>
            <a:ext cx="4059936" cy="420624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82896" y="3008376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arr = [1,2,3,4];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6492240" y="3008376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Homogeneous Smi array → FAST_SMI_ELEMENTS layout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818888" y="3474720"/>
            <a:ext cx="4059936" cy="420624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82896" y="3483864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add(a,b){return a+b;}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add(1,2); add(3,4);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6492240" y="3483864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types → monomorphic IC → TurboFan int32 path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818888" y="3950208"/>
            <a:ext cx="4059936" cy="420624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82896" y="395935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n = (x | 0);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6492240" y="395935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int32 coercion → V8 avoids float boxing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818888" y="4425696"/>
            <a:ext cx="4059936" cy="420624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82896" y="443484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Keep functions small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TurboFan inlines aggressively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6492240" y="443484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hot fns = inline candidates = zero call overhead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63040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26080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0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52160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" y="548640"/>
            <a:ext cx="7315200" cy="164592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14400" y="548640"/>
            <a:ext cx="91440" cy="16459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7280" y="64008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8A6FF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V8 is not magic.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1097280" y="11430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pipeline — and now you know every stage of it.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97280" y="155448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code that respects the pipeline and it will reward you with speed.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64592" y="2331720"/>
            <a:ext cx="4315968" cy="566928"/>
          </a:xfrm>
          <a:prstGeom prst="rect">
            <a:avLst/>
          </a:prstGeom>
          <a:solidFill>
            <a:srgbClr val="161B22"/>
          </a:solidFill>
          <a:ln w="10160">
            <a:solidFill>
              <a:srgbClr val="3FB95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64592" y="2331720"/>
            <a:ext cx="64008" cy="56692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3464" y="236829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— Scan + Parse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83464" y="26060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→ Token stream → AST. Lazy parsing skips function bodies until called.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63440" y="2331720"/>
            <a:ext cx="4315968" cy="566928"/>
          </a:xfrm>
          <a:prstGeom prst="rect">
            <a:avLst/>
          </a:prstGeom>
          <a:solidFill>
            <a:srgbClr val="161B22"/>
          </a:solidFill>
          <a:ln w="10160">
            <a:solidFill>
              <a:srgbClr val="39D0C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63440" y="2331720"/>
            <a:ext cx="64008" cy="566928"/>
          </a:xfrm>
          <a:prstGeom prst="rect">
            <a:avLst/>
          </a:prstGeom>
          <a:solidFill>
            <a:srgbClr val="39D0C9"/>
          </a:solidFill>
          <a:ln w="12700">
            <a:solidFill>
              <a:srgbClr val="39D0C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82312" y="236829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D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— Ignition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82312" y="26060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 → register-machine bytecode. Feedback vector records types at every call site.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64592" y="2990088"/>
            <a:ext cx="4315968" cy="566928"/>
          </a:xfrm>
          <a:prstGeom prst="rect">
            <a:avLst/>
          </a:prstGeom>
          <a:solidFill>
            <a:srgbClr val="161B22"/>
          </a:solidFill>
          <a:ln w="10160">
            <a:solidFill>
              <a:srgbClr val="E3B34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64592" y="2990088"/>
            <a:ext cx="64008" cy="566928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83464" y="302666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— Inline Cache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83464" y="326440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classes track object shape. IC goes MONO → POLY → MEGA as shapes diversify.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663440" y="2990088"/>
            <a:ext cx="4315968" cy="566928"/>
          </a:xfrm>
          <a:prstGeom prst="rect">
            <a:avLst/>
          </a:prstGeom>
          <a:solidFill>
            <a:srgbClr val="161B22"/>
          </a:solidFill>
          <a:ln w="10160">
            <a:solidFill>
              <a:srgbClr val="F0883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63440" y="2990088"/>
            <a:ext cx="64008" cy="566928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82312" y="302666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— Sparkplug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782312" y="326440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bytecode → machine code pass. No analysis, just dispatch elimination.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164592" y="3648456"/>
            <a:ext cx="4315968" cy="566928"/>
          </a:xfrm>
          <a:prstGeom prst="rect">
            <a:avLst/>
          </a:prstGeom>
          <a:solidFill>
            <a:srgbClr val="161B22"/>
          </a:solidFill>
          <a:ln w="10160">
            <a:solidFill>
              <a:srgbClr val="F0883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64592" y="3648456"/>
            <a:ext cx="64008" cy="566928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83464" y="368503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— Maglev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283464" y="392277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SSA IR + type feedback. Loop-invariant motion, deopt guards.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663440" y="3648456"/>
            <a:ext cx="4315968" cy="566928"/>
          </a:xfrm>
          <a:prstGeom prst="rect">
            <a:avLst/>
          </a:prstGeom>
          <a:solidFill>
            <a:srgbClr val="161B22"/>
          </a:solidFill>
          <a:ln w="10160">
            <a:solidFill>
              <a:srgbClr val="F8514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663440" y="3648456"/>
            <a:ext cx="64008" cy="566928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82312" y="368503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— TurboFan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782312" y="392277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Sea-of-nodes. Inlining, escape analysis, speculative int32. Near-C++ output.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164592" y="4306824"/>
            <a:ext cx="4315968" cy="566928"/>
          </a:xfrm>
          <a:prstGeom prst="rect">
            <a:avLst/>
          </a:prstGeom>
          <a:solidFill>
            <a:srgbClr val="161B22"/>
          </a:solidFill>
          <a:ln w="10160">
            <a:solidFill>
              <a:srgbClr val="58A6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64592" y="4306824"/>
            <a:ext cx="64008" cy="56692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83464" y="434340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— GC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283464" y="458114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Generational: Scavenger for young, Mark-Sweep-Compact for old. Incremental, concurrent.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663440" y="4306824"/>
            <a:ext cx="4315968" cy="566928"/>
          </a:xfrm>
          <a:prstGeom prst="rect">
            <a:avLst/>
          </a:prstGeom>
          <a:solidFill>
            <a:srgbClr val="161B22"/>
          </a:solidFill>
          <a:ln w="10160">
            <a:solidFill>
              <a:srgbClr val="D2A8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663440" y="4306824"/>
            <a:ext cx="64008" cy="566928"/>
          </a:xfrm>
          <a:prstGeom prst="rect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782312" y="434340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— C++ API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4782312" y="458114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values_[] array is the JS↔C++ contract. Accessor and interceptor callbacks live here.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github.com/v8/v8  ·  src/  ·  api/  ·  interpreter/  ·  compiler/  ·  heap/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V8: How JavaScript Actually Runs</dc:title>
  <dc:subject>PptxGenJS Presentation</dc:subject>
  <dc:creator>PptxGenJS</dc:creator>
  <cp:lastModifiedBy>PptxGenJS</cp:lastModifiedBy>
  <cp:revision>1</cp:revision>
  <dcterms:created xsi:type="dcterms:W3CDTF">2026-03-13T15:21:02Z</dcterms:created>
  <dcterms:modified xsi:type="dcterms:W3CDTF">2026-03-13T15:21:02Z</dcterms:modified>
</cp:coreProperties>
</file>